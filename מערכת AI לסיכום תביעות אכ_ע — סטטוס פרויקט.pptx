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1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e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4437888" cy="5120640"/>
          </a:xfrm>
          <a:prstGeom prst="rect">
            <a:avLst/>
          </a:prstGeom>
        </p:spPr>
      </p:pic>
      <p:pic>
        <p:nvPicPr>
          <p:cNvPr id="3" name="Picture 2" descr="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9528" y="566928"/>
            <a:ext cx="1384359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0" y="2148840"/>
            <a:ext cx="7662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500" b="1">
                <a:solidFill>
                  <a:srgbClr val="A2EB9A"/>
                </a:solidFill>
                <a:latin typeface="Arial"/>
                <a:cs typeface="Arial"/>
              </a:rPr>
              <a:t>תחום DATA ו-AI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560320"/>
            <a:ext cx="830275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4000" b="1">
                <a:solidFill>
                  <a:srgbClr val="FFFFFF"/>
                </a:solidFill>
                <a:latin typeface="Arial"/>
                <a:cs typeface="Arial"/>
              </a:rPr>
              <a:t>מערכת </a:t>
            </a:r>
            <a:r>
              <a:rPr sz="4000" b="1">
                <a:solidFill>
                  <a:srgbClr val="A2EB9A"/>
                </a:solidFill>
                <a:latin typeface="Arial"/>
                <a:cs typeface="Arial"/>
              </a:rPr>
              <a:t>AI</a:t>
            </a:r>
            <a:r>
              <a:rPr sz="4000" b="1">
                <a:solidFill>
                  <a:srgbClr val="FFFFFF"/>
                </a:solidFill>
                <a:latin typeface="Arial"/>
                <a:cs typeface="Arial"/>
              </a:rPr>
              <a:t> לסיכום תביעות אכ״ע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4160520"/>
            <a:ext cx="8302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2000" b="0">
                <a:solidFill>
                  <a:srgbClr val="C2C9DB"/>
                </a:solidFill>
                <a:latin typeface="Arial"/>
                <a:cs typeface="Arial"/>
              </a:rPr>
              <a:t>סטטוס פרויקט — Go / No-Go ותכנון שלבים עתידיים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265408" y="4983480"/>
            <a:ext cx="54864" cy="310896"/>
          </a:xfrm>
          <a:prstGeom prst="rect">
            <a:avLst/>
          </a:prstGeom>
          <a:solidFill>
            <a:srgbClr val="A2E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4983480"/>
            <a:ext cx="65653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600" b="0">
                <a:solidFill>
                  <a:srgbClr val="FFFFFF"/>
                </a:solidFill>
                <a:latin typeface="Arial"/>
                <a:cs typeface="Arial"/>
              </a:rPr>
              <a:t>שלב א׳ בביצוע · עלייה לאוויר עד סוף Q2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126480"/>
            <a:ext cx="4919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100" b="0">
                <a:solidFill>
                  <a:srgbClr val="C2C9DB"/>
                </a:solidFill>
                <a:latin typeface="Arial"/>
                <a:cs typeface="Arial"/>
              </a:rPr>
              <a:t>מגדל ביטוח ופיננסים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1264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/>
            <a:r>
              <a:rPr sz="1100" b="0">
                <a:solidFill>
                  <a:srgbClr val="C2C9DB"/>
                </a:solidFill>
                <a:latin typeface="Arial"/>
                <a:cs typeface="Arial"/>
              </a:rPr>
              <a:t>סטטוס פרויקט · Q2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57200"/>
            <a:ext cx="456491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35607" y="47548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/>
            <a:r>
              <a:rPr sz="1200" b="1">
                <a:solidFill>
                  <a:srgbClr val="020140"/>
                </a:solidFill>
                <a:latin typeface="Arial"/>
                <a:cs typeface="Arial"/>
              </a:rPr>
              <a:t>תחום </a:t>
            </a:r>
            <a:r>
              <a:rPr sz="1200" b="1">
                <a:solidFill>
                  <a:srgbClr val="3D65E3"/>
                </a:solidFill>
                <a:latin typeface="Arial"/>
                <a:cs typeface="Arial"/>
              </a:rPr>
              <a:t>DATA · AI</a:t>
            </a:r>
          </a:p>
        </p:txBody>
      </p:sp>
      <p:sp>
        <p:nvSpPr>
          <p:cNvPr id="4" name="Diamond 3"/>
          <p:cNvSpPr/>
          <p:nvPr/>
        </p:nvSpPr>
        <p:spPr>
          <a:xfrm>
            <a:off x="11205972" y="516635"/>
            <a:ext cx="118872" cy="118872"/>
          </a:xfrm>
          <a:prstGeom prst="diamond">
            <a:avLst/>
          </a:prstGeom>
          <a:solidFill>
            <a:srgbClr val="74C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0" y="475488"/>
            <a:ext cx="52669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300" b="1">
                <a:solidFill>
                  <a:srgbClr val="3D65E3"/>
                </a:solidFill>
                <a:latin typeface="Arial"/>
                <a:cs typeface="Arial"/>
              </a:rPr>
              <a:t>סקירת הפרויקט · תמונת מצב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6437376"/>
            <a:ext cx="5833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000" b="0">
                <a:solidFill>
                  <a:srgbClr val="5B658A"/>
                </a:solidFill>
                <a:latin typeface="Arial"/>
                <a:cs typeface="Arial"/>
              </a:rPr>
              <a:t>סקירת הפרויקט — תמונת מצב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437376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/>
            <a:r>
              <a:rPr sz="1000" b="0">
                <a:solidFill>
                  <a:srgbClr val="9AA3BD"/>
                </a:solidFill>
                <a:latin typeface="Arial"/>
                <a:cs typeface="Arial"/>
              </a:rPr>
              <a:t>מגדל · תחום DATA ו-AI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078992"/>
            <a:ext cx="67482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3000" b="1">
                <a:solidFill>
                  <a:srgbClr val="020140"/>
                </a:solidFill>
                <a:latin typeface="Arial"/>
                <a:cs typeface="Arial"/>
              </a:rPr>
              <a:t>סקירת הפרויקט — תמונת מצב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0496" y="1965960"/>
            <a:ext cx="2779776" cy="24871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33671" y="1965960"/>
            <a:ext cx="4105656" cy="24871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9535" y="1965960"/>
            <a:ext cx="3172968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9535" y="3310128"/>
            <a:ext cx="3172968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iamond 12"/>
          <p:cNvSpPr/>
          <p:nvPr/>
        </p:nvSpPr>
        <p:spPr>
          <a:xfrm>
            <a:off x="11032236" y="2189988"/>
            <a:ext cx="118872" cy="118872"/>
          </a:xfrm>
          <a:prstGeom prst="diamond">
            <a:avLst/>
          </a:prstGeom>
          <a:solidFill>
            <a:srgbClr val="74C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23376" y="2112264"/>
            <a:ext cx="22311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400" b="1">
                <a:solidFill>
                  <a:srgbClr val="020140"/>
                </a:solidFill>
                <a:latin typeface="Arial"/>
                <a:cs typeface="Arial"/>
              </a:rPr>
              <a:t>הבעיה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23376" y="2478024"/>
            <a:ext cx="2414016" cy="1792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8000"/>
              </a:lnSpc>
            </a:pPr>
            <a:r>
              <a:rPr sz="1150" b="0">
                <a:solidFill>
                  <a:srgbClr val="5B658A"/>
                </a:solidFill>
                <a:latin typeface="Arial"/>
                <a:cs typeface="Arial"/>
              </a:rPr>
              <a:t>תהליך יישוב תביעות אכ״ע נשען על קריאה, הצלבה וריכוז של מסמכים רבים ממקורות שונים לכדי סיכום — שגוזל זמן יקר ומהווה פתח לטעויות אנוש ואי-אחידות.</a:t>
            </a:r>
          </a:p>
        </p:txBody>
      </p:sp>
      <p:sp>
        <p:nvSpPr>
          <p:cNvPr id="16" name="Diamond 15"/>
          <p:cNvSpPr/>
          <p:nvPr/>
        </p:nvSpPr>
        <p:spPr>
          <a:xfrm>
            <a:off x="8051292" y="2189988"/>
            <a:ext cx="118872" cy="118872"/>
          </a:xfrm>
          <a:prstGeom prst="diamond">
            <a:avLst/>
          </a:prstGeom>
          <a:solidFill>
            <a:srgbClr val="3D6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16551" y="2112264"/>
            <a:ext cx="35570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400" b="1">
                <a:solidFill>
                  <a:srgbClr val="020140"/>
                </a:solidFill>
                <a:latin typeface="Arial"/>
                <a:cs typeface="Arial"/>
              </a:rPr>
              <a:t>מטרת הפרויקט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1" y="2478024"/>
            <a:ext cx="3739896" cy="1792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020140"/>
                </a:solidFill>
                <a:latin typeface="Arial"/>
                <a:cs typeface="Arial"/>
              </a:rPr>
              <a:t>1. תמיכה בקבלת החלטות</a:t>
            </a:r>
            <a:r>
              <a:rPr sz="1150" b="0">
                <a:solidFill>
                  <a:srgbClr val="5B658A"/>
                </a:solidFill>
                <a:latin typeface="Arial"/>
                <a:cs typeface="Arial"/>
              </a:rPr>
              <a:t> — הצפת סתירות, פערים וחוסרים שקשה לאתר בעין אנושית.</a:t>
            </a:r>
          </a:p>
          <a:p>
            <a:pPr algn="r" rtl="1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020140"/>
                </a:solidFill>
                <a:latin typeface="Arial"/>
                <a:cs typeface="Arial"/>
              </a:rPr>
              <a:t>2. שיפור איכות ואחידות היישוב</a:t>
            </a:r>
            <a:r>
              <a:rPr sz="1150" b="0">
                <a:solidFill>
                  <a:srgbClr val="5B658A"/>
                </a:solidFill>
                <a:latin typeface="Arial"/>
                <a:cs typeface="Arial"/>
              </a:rPr>
              <a:t> — תוצר מובנה, עקבי ומבוסס מסמכים, המייצר סטנדרט אחיד לבדיקת התיק.</a:t>
            </a:r>
          </a:p>
          <a:p>
            <a:pPr algn="r" rtl="1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020140"/>
                </a:solidFill>
                <a:latin typeface="Arial"/>
                <a:cs typeface="Arial"/>
              </a:rPr>
              <a:t>3. קיצור משמעותי של זמן העבודה</a:t>
            </a:r>
            <a:r>
              <a:rPr sz="1150" b="0">
                <a:solidFill>
                  <a:srgbClr val="5B658A"/>
                </a:solidFill>
                <a:latin typeface="Arial"/>
                <a:cs typeface="Arial"/>
              </a:rPr>
              <a:t> — סיכום אוטומטי של כלל מסמכי התיק ויצירת תמונת מצב אחידה וברורה.</a:t>
            </a:r>
          </a:p>
        </p:txBody>
      </p:sp>
      <p:sp>
        <p:nvSpPr>
          <p:cNvPr id="19" name="Diamond 18"/>
          <p:cNvSpPr/>
          <p:nvPr/>
        </p:nvSpPr>
        <p:spPr>
          <a:xfrm>
            <a:off x="3744467" y="2189988"/>
            <a:ext cx="118872" cy="118872"/>
          </a:xfrm>
          <a:prstGeom prst="diamond">
            <a:avLst/>
          </a:prstGeom>
          <a:solidFill>
            <a:srgbClr val="74C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5" y="2112264"/>
            <a:ext cx="26243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400" b="1">
                <a:solidFill>
                  <a:srgbClr val="020140"/>
                </a:solidFill>
                <a:latin typeface="Arial"/>
                <a:cs typeface="Arial"/>
              </a:rPr>
              <a:t>מהו הכלי?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5" y="2478024"/>
            <a:ext cx="2807208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</a:pPr>
            <a:r>
              <a:rPr sz="1100" b="0">
                <a:solidFill>
                  <a:srgbClr val="5B658A"/>
                </a:solidFill>
                <a:latin typeface="Arial"/>
                <a:cs typeface="Arial"/>
              </a:rPr>
              <a:t>מערכת </a:t>
            </a:r>
            <a:r>
              <a:rPr sz="1100" b="1">
                <a:solidFill>
                  <a:srgbClr val="3D65E3"/>
                </a:solidFill>
                <a:latin typeface="Arial"/>
                <a:cs typeface="Arial"/>
              </a:rPr>
              <a:t>AI</a:t>
            </a:r>
            <a:r>
              <a:rPr sz="1100" b="0">
                <a:solidFill>
                  <a:srgbClr val="5B658A"/>
                </a:solidFill>
                <a:latin typeface="Arial"/>
                <a:cs typeface="Arial"/>
              </a:rPr>
              <a:t> המפיקה סיכום אוטומטי, מקצועי ומובנה של כלל מסמכי התביעה, המשולבת במערכת האחזור.</a:t>
            </a:r>
          </a:p>
        </p:txBody>
      </p:sp>
      <p:sp>
        <p:nvSpPr>
          <p:cNvPr id="22" name="Diamond 21"/>
          <p:cNvSpPr/>
          <p:nvPr/>
        </p:nvSpPr>
        <p:spPr>
          <a:xfrm>
            <a:off x="3744467" y="3534156"/>
            <a:ext cx="118872" cy="118872"/>
          </a:xfrm>
          <a:prstGeom prst="diamond">
            <a:avLst/>
          </a:prstGeom>
          <a:solidFill>
            <a:srgbClr val="74C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5" y="3456432"/>
            <a:ext cx="26243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400" b="1">
                <a:solidFill>
                  <a:srgbClr val="020140"/>
                </a:solidFill>
                <a:latin typeface="Arial"/>
                <a:cs typeface="Arial"/>
              </a:rPr>
              <a:t>קהל היעד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5" y="3822192"/>
            <a:ext cx="2807208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</a:pPr>
            <a:r>
              <a:rPr sz="1100" b="1">
                <a:solidFill>
                  <a:srgbClr val="020140"/>
                </a:solidFill>
                <a:latin typeface="Arial"/>
                <a:cs typeface="Arial"/>
              </a:rPr>
              <a:t>פרסונה מרכזית: </a:t>
            </a:r>
            <a:r>
              <a:rPr sz="1100" b="0">
                <a:solidFill>
                  <a:srgbClr val="5B658A"/>
                </a:solidFill>
                <a:latin typeface="Arial"/>
                <a:cs typeface="Arial"/>
              </a:rPr>
              <a:t>מיישבים יעודיים. </a:t>
            </a:r>
            <a:r>
              <a:rPr sz="1100" b="1">
                <a:solidFill>
                  <a:srgbClr val="020140"/>
                </a:solidFill>
                <a:latin typeface="Arial"/>
                <a:cs typeface="Arial"/>
              </a:rPr>
              <a:t>נוספות: </a:t>
            </a:r>
            <a:r>
              <a:rPr sz="1100" b="0">
                <a:solidFill>
                  <a:srgbClr val="5B658A"/>
                </a:solidFill>
                <a:latin typeface="Arial"/>
                <a:cs typeface="Arial"/>
              </a:rPr>
              <a:t>מיישבי תביעות וראשי מחלקות.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31536" y="4654296"/>
            <a:ext cx="5888736" cy="1691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68680" y="4654296"/>
            <a:ext cx="4361688" cy="1691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iamond 26"/>
          <p:cNvSpPr/>
          <p:nvPr/>
        </p:nvSpPr>
        <p:spPr>
          <a:xfrm>
            <a:off x="11032236" y="4878324"/>
            <a:ext cx="118872" cy="118872"/>
          </a:xfrm>
          <a:prstGeom prst="diamond">
            <a:avLst/>
          </a:prstGeom>
          <a:solidFill>
            <a:srgbClr val="74C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14416" y="4800600"/>
            <a:ext cx="53400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400" b="1">
                <a:solidFill>
                  <a:srgbClr val="020140"/>
                </a:solidFill>
                <a:latin typeface="Arial"/>
                <a:cs typeface="Arial"/>
              </a:rPr>
              <a:t>המצב היום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06128" y="5184648"/>
            <a:ext cx="1731264" cy="91440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 w="9525">
            <a:solidFill>
              <a:srgbClr val="E2E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06128" y="5276088"/>
            <a:ext cx="1731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2600" b="1">
                <a:solidFill>
                  <a:srgbClr val="3D65E3"/>
                </a:solidFill>
                <a:latin typeface="Arial"/>
                <a:cs typeface="Arial"/>
              </a:rPr>
              <a:t>1500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0992" y="5733288"/>
            <a:ext cx="16215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950" b="0">
                <a:solidFill>
                  <a:srgbClr val="5B658A"/>
                </a:solidFill>
                <a:latin typeface="Arial"/>
                <a:cs typeface="Arial"/>
              </a:rPr>
              <a:t>תביעות פתוחות היום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10272" y="5184648"/>
            <a:ext cx="1731264" cy="91440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 w="9525">
            <a:solidFill>
              <a:srgbClr val="E2E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10272" y="5276088"/>
            <a:ext cx="1731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2600" b="1">
                <a:solidFill>
                  <a:srgbClr val="3D65E3"/>
                </a:solidFill>
                <a:latin typeface="Arial"/>
                <a:cs typeface="Arial"/>
              </a:rPr>
              <a:t>400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65136" y="5733288"/>
            <a:ext cx="16215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950" b="0">
                <a:solidFill>
                  <a:srgbClr val="5B658A"/>
                </a:solidFill>
                <a:latin typeface="Arial"/>
                <a:cs typeface="Arial"/>
              </a:rPr>
              <a:t>תביעות מתמשכות בחודש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14416" y="5184648"/>
            <a:ext cx="1731264" cy="91440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 w="9525">
            <a:solidFill>
              <a:srgbClr val="E2E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14416" y="5276088"/>
            <a:ext cx="1731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2600" b="1">
                <a:solidFill>
                  <a:srgbClr val="3D65E3"/>
                </a:solidFill>
                <a:latin typeface="Arial"/>
                <a:cs typeface="Arial"/>
              </a:rPr>
              <a:t>150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5733288"/>
            <a:ext cx="16215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950" b="0">
                <a:solidFill>
                  <a:srgbClr val="5B658A"/>
                </a:solidFill>
                <a:latin typeface="Arial"/>
                <a:cs typeface="Arial"/>
              </a:rPr>
              <a:t>תביעות חדשות בחודש</a:t>
            </a:r>
          </a:p>
        </p:txBody>
      </p:sp>
      <p:sp>
        <p:nvSpPr>
          <p:cNvPr id="38" name="Diamond 37"/>
          <p:cNvSpPr/>
          <p:nvPr/>
        </p:nvSpPr>
        <p:spPr>
          <a:xfrm>
            <a:off x="4942332" y="4878324"/>
            <a:ext cx="118872" cy="118872"/>
          </a:xfrm>
          <a:prstGeom prst="diamond">
            <a:avLst/>
          </a:prstGeom>
          <a:solidFill>
            <a:srgbClr val="74C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4800600"/>
            <a:ext cx="381304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400" b="1">
                <a:solidFill>
                  <a:srgbClr val="020140"/>
                </a:solidFill>
                <a:latin typeface="Arial"/>
                <a:cs typeface="Arial"/>
              </a:rPr>
              <a:t>יעדי הפרויקט המרכזיים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131820" y="5166360"/>
            <a:ext cx="1915667" cy="841248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 w="9525">
            <a:solidFill>
              <a:srgbClr val="E2E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41548" y="5212080"/>
            <a:ext cx="16962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2200" b="1">
                <a:solidFill>
                  <a:srgbClr val="74CF6F"/>
                </a:solidFill>
                <a:latin typeface="Arial"/>
                <a:cs typeface="Arial"/>
              </a:rPr>
              <a:t>95%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41548" y="5586984"/>
            <a:ext cx="1696211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050" b="1">
                <a:solidFill>
                  <a:srgbClr val="020140"/>
                </a:solidFill>
                <a:latin typeface="Arial"/>
                <a:cs typeface="Arial"/>
              </a:rPr>
              <a:t>כיסוי תביעות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41548" y="5788152"/>
            <a:ext cx="169621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850" b="0">
                <a:solidFill>
                  <a:srgbClr val="5B658A"/>
                </a:solidFill>
                <a:latin typeface="Arial"/>
                <a:cs typeface="Arial"/>
              </a:rPr>
              <a:t>הפקה אוטומטית לכלל התביעות הפעילות.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51560" y="5166360"/>
            <a:ext cx="1915667" cy="841248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 w="9525">
            <a:solidFill>
              <a:srgbClr val="E2E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61288" y="5212080"/>
            <a:ext cx="16962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2200" b="1">
                <a:solidFill>
                  <a:srgbClr val="74CF6F"/>
                </a:solidFill>
                <a:latin typeface="Arial"/>
                <a:cs typeface="Arial"/>
              </a:rPr>
              <a:t>75%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61288" y="5586984"/>
            <a:ext cx="1696211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050" b="1">
                <a:solidFill>
                  <a:srgbClr val="020140"/>
                </a:solidFill>
                <a:latin typeface="Arial"/>
                <a:cs typeface="Arial"/>
              </a:rPr>
              <a:t>צמצום זמן עבודה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61288" y="5788152"/>
            <a:ext cx="169621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850" b="0">
                <a:solidFill>
                  <a:srgbClr val="5B658A"/>
                </a:solidFill>
                <a:latin typeface="Arial"/>
                <a:cs typeface="Arial"/>
              </a:rPr>
              <a:t>כ-45 דקות לתיק בממוצע.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" y="6035040"/>
            <a:ext cx="3995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200" b="1">
                <a:solidFill>
                  <a:srgbClr val="3D65E3"/>
                </a:solidFill>
                <a:latin typeface="Arial"/>
                <a:cs typeface="Arial"/>
              </a:rPr>
              <a:t>חיסכון של כ-392 שעות חודשיות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57200"/>
            <a:ext cx="456491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35607" y="47548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/>
            <a:r>
              <a:rPr sz="1200" b="1">
                <a:solidFill>
                  <a:srgbClr val="020140"/>
                </a:solidFill>
                <a:latin typeface="Arial"/>
                <a:cs typeface="Arial"/>
              </a:rPr>
              <a:t>תחום </a:t>
            </a:r>
            <a:r>
              <a:rPr sz="1200" b="1">
                <a:solidFill>
                  <a:srgbClr val="3D65E3"/>
                </a:solidFill>
                <a:latin typeface="Arial"/>
                <a:cs typeface="Arial"/>
              </a:rPr>
              <a:t>DATA · AI</a:t>
            </a:r>
          </a:p>
        </p:txBody>
      </p:sp>
      <p:sp>
        <p:nvSpPr>
          <p:cNvPr id="4" name="Diamond 3"/>
          <p:cNvSpPr/>
          <p:nvPr/>
        </p:nvSpPr>
        <p:spPr>
          <a:xfrm>
            <a:off x="11205972" y="516635"/>
            <a:ext cx="118872" cy="118872"/>
          </a:xfrm>
          <a:prstGeom prst="diamond">
            <a:avLst/>
          </a:prstGeom>
          <a:solidFill>
            <a:srgbClr val="74C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0" y="475488"/>
            <a:ext cx="52669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300" b="1">
                <a:solidFill>
                  <a:srgbClr val="3D65E3"/>
                </a:solidFill>
                <a:latin typeface="Arial"/>
                <a:cs typeface="Arial"/>
              </a:rPr>
              <a:t>שלב א׳ · עד סוף Q2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6437376"/>
            <a:ext cx="5833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000" b="0">
                <a:solidFill>
                  <a:srgbClr val="5B658A"/>
                </a:solidFill>
                <a:latin typeface="Arial"/>
                <a:cs typeface="Arial"/>
              </a:rPr>
              <a:t>שלב א׳ — פיתוחים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437376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/>
            <a:r>
              <a:rPr sz="1000" b="0">
                <a:solidFill>
                  <a:srgbClr val="9AA3BD"/>
                </a:solidFill>
                <a:latin typeface="Arial"/>
                <a:cs typeface="Arial"/>
              </a:rPr>
              <a:t>מגדל · תחום DATA ו-AI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078992"/>
            <a:ext cx="67482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3000" b="1">
                <a:solidFill>
                  <a:srgbClr val="020140"/>
                </a:solidFill>
                <a:latin typeface="Arial"/>
                <a:cs typeface="Arial"/>
              </a:rPr>
              <a:t>פיתוחי שלב א׳ — יעלו עד סוף Q2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755648"/>
            <a:ext cx="7662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600" b="0">
                <a:solidFill>
                  <a:srgbClr val="5B658A"/>
                </a:solidFill>
                <a:latin typeface="Arial"/>
                <a:cs typeface="Arial"/>
              </a:rPr>
              <a:t>שלוש תכולות ליבה, מתביעה פתוחה ועד התראה בתיבת המייל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377440"/>
            <a:ext cx="4005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200" b="1">
                <a:solidFill>
                  <a:srgbClr val="9AA3BD"/>
                </a:solidFill>
                <a:latin typeface="Arial"/>
                <a:cs typeface="Arial"/>
              </a:rPr>
              <a:t>תכולות הפיתוח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788920"/>
            <a:ext cx="10451592" cy="10972"/>
          </a:xfrm>
          <a:prstGeom prst="rect">
            <a:avLst/>
          </a:prstGeom>
          <a:solidFill>
            <a:srgbClr val="D4D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607040" y="2953512"/>
            <a:ext cx="713232" cy="45720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9525">
            <a:solidFill>
              <a:srgbClr val="E2E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0" y="3044952"/>
            <a:ext cx="7132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800" b="1">
                <a:solidFill>
                  <a:srgbClr val="3D65E3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935224"/>
            <a:ext cx="9509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2000" b="1">
                <a:solidFill>
                  <a:srgbClr val="020140"/>
                </a:solidFill>
                <a:latin typeface="Arial"/>
                <a:cs typeface="Arial"/>
              </a:rPr>
              <a:t>יצירת סיכום חכם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337560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8000"/>
              </a:lnSpc>
            </a:pPr>
            <a:r>
              <a:rPr sz="1350" b="0">
                <a:solidFill>
                  <a:srgbClr val="5B658A"/>
                </a:solidFill>
                <a:latin typeface="Arial"/>
                <a:cs typeface="Arial"/>
              </a:rPr>
              <a:t>סיכום אוטומטי בעזרת פרומפט אופטימלי למענה על מקרי תביעות אכ״ע. מיקוד: </a:t>
            </a:r>
            <a:r>
              <a:rPr sz="1350" b="1">
                <a:solidFill>
                  <a:srgbClr val="020140"/>
                </a:solidFill>
                <a:latin typeface="Arial"/>
                <a:cs typeface="Arial"/>
              </a:rPr>
              <a:t>תביעות פתוחות בלבד</a:t>
            </a:r>
            <a:r>
              <a:rPr sz="1350" b="0">
                <a:solidFill>
                  <a:srgbClr val="5B658A"/>
                </a:solidFill>
                <a:latin typeface="Arial"/>
                <a:cs typeface="Arial"/>
              </a:rPr>
              <a:t> — חדשות או מתמשכות.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3995928"/>
            <a:ext cx="10451592" cy="10972"/>
          </a:xfrm>
          <a:prstGeom prst="rect">
            <a:avLst/>
          </a:prstGeom>
          <a:solidFill>
            <a:srgbClr val="D4D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607040" y="4160520"/>
            <a:ext cx="713232" cy="45720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9525">
            <a:solidFill>
              <a:srgbClr val="E2E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0" y="4251960"/>
            <a:ext cx="7132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800" b="1">
                <a:solidFill>
                  <a:srgbClr val="3D65E3"/>
                </a:solidFill>
                <a:latin typeface="Arial"/>
                <a:cs typeface="Arial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142232"/>
            <a:ext cx="9509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2000" b="1">
                <a:solidFill>
                  <a:srgbClr val="020140"/>
                </a:solidFill>
                <a:latin typeface="Arial"/>
                <a:cs typeface="Arial"/>
              </a:rPr>
              <a:t>מנגנון טריגר אוטומטי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544568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8000"/>
              </a:lnSpc>
            </a:pPr>
            <a:r>
              <a:rPr sz="1350" b="0">
                <a:solidFill>
                  <a:srgbClr val="5B658A"/>
                </a:solidFill>
                <a:latin typeface="Arial"/>
                <a:cs typeface="Arial"/>
              </a:rPr>
              <a:t>כניסת מסמך חדש מפעילה את ה-AI אוטומטית. סיכום על סמך מסמכים תחת אותה רמת תביעה, ושמירת קובץ מסוג </a:t>
            </a:r>
            <a:r>
              <a:rPr sz="1350" b="1">
                <a:solidFill>
                  <a:srgbClr val="020140"/>
                </a:solidFill>
                <a:latin typeface="Arial"/>
                <a:cs typeface="Arial"/>
              </a:rPr>
              <a:t>סיכום</a:t>
            </a:r>
            <a:r>
              <a:rPr sz="1350" b="0">
                <a:solidFill>
                  <a:srgbClr val="5B658A"/>
                </a:solidFill>
                <a:latin typeface="Arial"/>
                <a:cs typeface="Arial"/>
              </a:rPr>
              <a:t> במערכת האחזור.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5202936"/>
            <a:ext cx="10451592" cy="10972"/>
          </a:xfrm>
          <a:prstGeom prst="rect">
            <a:avLst/>
          </a:prstGeom>
          <a:solidFill>
            <a:srgbClr val="D4D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607040" y="5367528"/>
            <a:ext cx="713232" cy="45720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9525">
            <a:solidFill>
              <a:srgbClr val="E2E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0" y="5458968"/>
            <a:ext cx="7132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800" b="1">
                <a:solidFill>
                  <a:srgbClr val="3D65E3"/>
                </a:solidFill>
                <a:latin typeface="Arial"/>
                <a:cs typeface="Arial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349240"/>
            <a:ext cx="9509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2000" b="1">
                <a:solidFill>
                  <a:srgbClr val="020140"/>
                </a:solidFill>
                <a:latin typeface="Arial"/>
                <a:cs typeface="Arial"/>
              </a:rPr>
              <a:t>התראות מייל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751576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8000"/>
              </a:lnSpc>
            </a:pPr>
            <a:r>
              <a:rPr sz="1350" b="0">
                <a:solidFill>
                  <a:srgbClr val="5B658A"/>
                </a:solidFill>
                <a:latin typeface="Arial"/>
                <a:cs typeface="Arial"/>
              </a:rPr>
              <a:t>שליחה בתפוצה מותאמת לפי קבוצת AD. כולל תביעות שסוכמו ודיווח על כשלים בתהליך.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6409944"/>
            <a:ext cx="10451592" cy="10972"/>
          </a:xfrm>
          <a:prstGeom prst="rect">
            <a:avLst/>
          </a:prstGeom>
          <a:solidFill>
            <a:srgbClr val="D4D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57200"/>
            <a:ext cx="456491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35607" y="47548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/>
            <a:r>
              <a:rPr sz="1200" b="1">
                <a:solidFill>
                  <a:srgbClr val="020140"/>
                </a:solidFill>
                <a:latin typeface="Arial"/>
                <a:cs typeface="Arial"/>
              </a:rPr>
              <a:t>תחום </a:t>
            </a:r>
            <a:r>
              <a:rPr sz="1200" b="1">
                <a:solidFill>
                  <a:srgbClr val="3D65E3"/>
                </a:solidFill>
                <a:latin typeface="Arial"/>
                <a:cs typeface="Arial"/>
              </a:rPr>
              <a:t>DATA · AI</a:t>
            </a:r>
          </a:p>
        </p:txBody>
      </p:sp>
      <p:sp>
        <p:nvSpPr>
          <p:cNvPr id="4" name="Diamond 3"/>
          <p:cNvSpPr/>
          <p:nvPr/>
        </p:nvSpPr>
        <p:spPr>
          <a:xfrm>
            <a:off x="11205972" y="516635"/>
            <a:ext cx="118872" cy="118872"/>
          </a:xfrm>
          <a:prstGeom prst="diamond">
            <a:avLst/>
          </a:prstGeom>
          <a:solidFill>
            <a:srgbClr val="74C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0" y="475488"/>
            <a:ext cx="52669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300" b="1">
                <a:solidFill>
                  <a:srgbClr val="3D65E3"/>
                </a:solidFill>
                <a:latin typeface="Arial"/>
                <a:cs typeface="Arial"/>
              </a:rPr>
              <a:t>שלבים עתידיים · מטריצת תעדוף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6437376"/>
            <a:ext cx="5833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000" b="0">
                <a:solidFill>
                  <a:srgbClr val="5B658A"/>
                </a:solidFill>
                <a:latin typeface="Arial"/>
                <a:cs typeface="Arial"/>
              </a:rPr>
              <a:t>שלבים עתידיים — מטריצת ערך / מאמץ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437376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/>
            <a:r>
              <a:rPr sz="1000" b="0">
                <a:solidFill>
                  <a:srgbClr val="9AA3BD"/>
                </a:solidFill>
                <a:latin typeface="Arial"/>
                <a:cs typeface="Arial"/>
              </a:rPr>
              <a:t>מגדל · תחום DATA ו-AI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78992"/>
            <a:ext cx="49194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2600" b="1">
                <a:solidFill>
                  <a:srgbClr val="020140"/>
                </a:solidFill>
                <a:latin typeface="Arial"/>
                <a:cs typeface="Arial"/>
              </a:rPr>
              <a:t>מטריצת ערך מול מאמץ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682496"/>
            <a:ext cx="7479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300" b="0">
                <a:solidFill>
                  <a:srgbClr val="5B658A"/>
                </a:solidFill>
                <a:latin typeface="Arial"/>
                <a:cs typeface="Arial"/>
              </a:rPr>
              <a:t>מיקום היוזמות לפי Impact (ציר אנכי) מול מאמץ ביצוע (ציר אופקי)</a:t>
            </a:r>
          </a:p>
        </p:txBody>
      </p:sp>
      <p:sp>
        <p:nvSpPr>
          <p:cNvPr id="10" name="Oval 9"/>
          <p:cNvSpPr/>
          <p:nvPr/>
        </p:nvSpPr>
        <p:spPr>
          <a:xfrm>
            <a:off x="10853928" y="2139696"/>
            <a:ext cx="146304" cy="146304"/>
          </a:xfrm>
          <a:prstGeom prst="ellipse">
            <a:avLst/>
          </a:prstGeom>
          <a:solidFill>
            <a:srgbClr val="74CF6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0" y="2103120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/>
            <a:r>
              <a:rPr sz="1100" b="0">
                <a:solidFill>
                  <a:srgbClr val="212058"/>
                </a:solidFill>
                <a:latin typeface="Arial"/>
                <a:cs typeface="Arial"/>
              </a:rPr>
              <a:t>עדיפות גבוהה</a:t>
            </a:r>
          </a:p>
        </p:txBody>
      </p:sp>
      <p:sp>
        <p:nvSpPr>
          <p:cNvPr id="12" name="Oval 11"/>
          <p:cNvSpPr/>
          <p:nvPr/>
        </p:nvSpPr>
        <p:spPr>
          <a:xfrm>
            <a:off x="8476488" y="2139696"/>
            <a:ext cx="146304" cy="146304"/>
          </a:xfrm>
          <a:prstGeom prst="ellipse">
            <a:avLst/>
          </a:prstGeom>
          <a:solidFill>
            <a:srgbClr val="D2A53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2103120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/>
            <a:r>
              <a:rPr sz="1100" b="0">
                <a:solidFill>
                  <a:srgbClr val="212058"/>
                </a:solidFill>
                <a:latin typeface="Arial"/>
                <a:cs typeface="Arial"/>
              </a:rPr>
              <a:t>עדיפות בינונית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2514600"/>
            <a:ext cx="2948940" cy="1645920"/>
          </a:xfrm>
          <a:prstGeom prst="rect">
            <a:avLst/>
          </a:prstGeom>
          <a:solidFill>
            <a:srgbClr val="EEF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78140" y="2514600"/>
            <a:ext cx="2948940" cy="1645920"/>
          </a:xfrm>
          <a:prstGeom prst="rect">
            <a:avLst/>
          </a:prstGeom>
          <a:solidFill>
            <a:srgbClr val="E9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0" y="4160520"/>
            <a:ext cx="2948940" cy="1645920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78140" y="4160520"/>
            <a:ext cx="2948940" cy="1645920"/>
          </a:xfrm>
          <a:prstGeom prst="rect">
            <a:avLst/>
          </a:prstGeom>
          <a:solidFill>
            <a:srgbClr val="FB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2514600"/>
            <a:ext cx="5897880" cy="3291840"/>
          </a:xfrm>
          <a:prstGeom prst="rect">
            <a:avLst/>
          </a:prstGeom>
          <a:noFill/>
          <a:ln w="9525">
            <a:solidFill>
              <a:srgbClr val="D4DD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4559" y="361188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000" b="1">
                <a:solidFill>
                  <a:srgbClr val="74CF6F"/>
                </a:solidFill>
                <a:latin typeface="Arial"/>
                <a:cs typeface="Arial"/>
              </a:rPr>
              <a:t>הישגים מהירים</a:t>
            </a:r>
          </a:p>
          <a:p>
            <a:pPr algn="ctr" rtl="1"/>
            <a:r>
              <a:rPr sz="800" b="0">
                <a:solidFill>
                  <a:srgbClr val="74CF6F"/>
                </a:solidFill>
                <a:latin typeface="Arial"/>
                <a:cs typeface="Arial"/>
              </a:rPr>
              <a:t>Quick Wins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42478" y="3644798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000" b="1">
                <a:solidFill>
                  <a:srgbClr val="3D65E3"/>
                </a:solidFill>
                <a:latin typeface="Arial"/>
                <a:cs typeface="Arial"/>
              </a:rPr>
              <a:t>פרויקטים מרכזיים</a:t>
            </a:r>
          </a:p>
          <a:p>
            <a:pPr algn="ctr" rtl="1"/>
            <a:r>
              <a:rPr sz="800" b="0">
                <a:solidFill>
                  <a:srgbClr val="3D65E3"/>
                </a:solidFill>
                <a:latin typeface="Arial"/>
                <a:cs typeface="Arial"/>
              </a:rPr>
              <a:t>Major Projects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9453" y="5126126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000" b="1">
                <a:solidFill>
                  <a:srgbClr val="5B658A"/>
                </a:solidFill>
                <a:latin typeface="Arial"/>
                <a:cs typeface="Arial"/>
              </a:rPr>
              <a:t>מילוי מקום</a:t>
            </a:r>
          </a:p>
          <a:p>
            <a:pPr algn="ctr" rtl="1"/>
            <a:r>
              <a:rPr sz="800" b="0">
                <a:solidFill>
                  <a:srgbClr val="5B658A"/>
                </a:solidFill>
                <a:latin typeface="Arial"/>
                <a:cs typeface="Arial"/>
              </a:rPr>
              <a:t>Fill 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0224" y="5126126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000" b="1">
                <a:solidFill>
                  <a:srgbClr val="A07B22"/>
                </a:solidFill>
                <a:latin typeface="Arial"/>
                <a:cs typeface="Arial"/>
              </a:rPr>
              <a:t>משימות שוליים · בזבוז זמן</a:t>
            </a:r>
          </a:p>
          <a:p>
            <a:pPr algn="ctr" rtl="1"/>
            <a:r>
              <a:rPr sz="800" b="0">
                <a:solidFill>
                  <a:srgbClr val="A07B22"/>
                </a:solidFill>
                <a:latin typeface="Arial"/>
                <a:cs typeface="Arial"/>
              </a:rPr>
              <a:t>Thankless Tasks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7978140" y="2532888"/>
            <a:ext cx="0" cy="3227832"/>
          </a:xfrm>
          <a:prstGeom prst="line">
            <a:avLst/>
          </a:prstGeom>
          <a:ln w="28575">
            <a:solidFill>
              <a:srgbClr val="0201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074920" y="4160520"/>
            <a:ext cx="5833872" cy="0"/>
          </a:xfrm>
          <a:prstGeom prst="line">
            <a:avLst/>
          </a:prstGeom>
          <a:ln w="28575">
            <a:solidFill>
              <a:srgbClr val="0201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063740" y="587959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100" b="1">
                <a:solidFill>
                  <a:srgbClr val="5B658A"/>
                </a:solidFill>
                <a:latin typeface="Arial"/>
                <a:cs typeface="Arial"/>
              </a:rPr>
              <a:t>מאמץ ביצוע (Effort) ►</a:t>
            </a:r>
          </a:p>
        </p:txBody>
      </p:sp>
      <p:sp>
        <p:nvSpPr>
          <p:cNvPr id="26" name="TextBox 25"/>
          <p:cNvSpPr txBox="1"/>
          <p:nvPr/>
        </p:nvSpPr>
        <p:spPr>
          <a:xfrm rot="16200000">
            <a:off x="4069080" y="3995928"/>
            <a:ext cx="1828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5B658A"/>
                </a:solidFill>
                <a:latin typeface="Arial"/>
                <a:cs typeface="Arial"/>
              </a:rPr>
              <a:t>Impact ▲</a:t>
            </a:r>
          </a:p>
        </p:txBody>
      </p:sp>
      <p:sp>
        <p:nvSpPr>
          <p:cNvPr id="27" name="Oval 26"/>
          <p:cNvSpPr/>
          <p:nvPr/>
        </p:nvSpPr>
        <p:spPr>
          <a:xfrm>
            <a:off x="10245852" y="2752343"/>
            <a:ext cx="182880" cy="182880"/>
          </a:xfrm>
          <a:prstGeom prst="ellipse">
            <a:avLst/>
          </a:prstGeom>
          <a:solidFill>
            <a:srgbClr val="74CF6F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3275" y="2642615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050" b="1">
                <a:solidFill>
                  <a:srgbClr val="020140"/>
                </a:solidFill>
                <a:latin typeface="Arial"/>
                <a:cs typeface="Arial"/>
              </a:rPr>
              <a:t>אינטגרציה למערכות ליבה</a:t>
            </a:r>
          </a:p>
          <a:p>
            <a:pPr algn="r" rtl="1"/>
            <a:r>
              <a:rPr sz="850" b="0">
                <a:solidFill>
                  <a:srgbClr val="5B658A"/>
                </a:solidFill>
                <a:latin typeface="Arial"/>
                <a:cs typeface="Arial"/>
              </a:rPr>
              <a:t>חיים 2000 · NG</a:t>
            </a:r>
          </a:p>
        </p:txBody>
      </p:sp>
      <p:sp>
        <p:nvSpPr>
          <p:cNvPr id="29" name="Oval 28"/>
          <p:cNvSpPr/>
          <p:nvPr/>
        </p:nvSpPr>
        <p:spPr>
          <a:xfrm>
            <a:off x="9774021" y="3015691"/>
            <a:ext cx="182880" cy="182880"/>
          </a:xfrm>
          <a:prstGeom prst="ellipse">
            <a:avLst/>
          </a:prstGeom>
          <a:solidFill>
            <a:srgbClr val="74CF6F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22461" y="3226003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050" b="1">
                <a:solidFill>
                  <a:srgbClr val="020140"/>
                </a:solidFill>
                <a:latin typeface="Arial"/>
                <a:cs typeface="Arial"/>
              </a:rPr>
              <a:t>ניווט ישיר למסמך המקור</a:t>
            </a:r>
          </a:p>
        </p:txBody>
      </p:sp>
      <p:sp>
        <p:nvSpPr>
          <p:cNvPr id="31" name="Oval 30"/>
          <p:cNvSpPr/>
          <p:nvPr/>
        </p:nvSpPr>
        <p:spPr>
          <a:xfrm>
            <a:off x="8830360" y="4299508"/>
            <a:ext cx="182880" cy="182880"/>
          </a:xfrm>
          <a:prstGeom prst="ellipse">
            <a:avLst/>
          </a:prstGeom>
          <a:solidFill>
            <a:srgbClr val="74CF6F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49816" y="4272076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/>
            <a:r>
              <a:rPr sz="1050" b="1">
                <a:solidFill>
                  <a:srgbClr val="020140"/>
                </a:solidFill>
                <a:latin typeface="Arial"/>
                <a:cs typeface="Arial"/>
              </a:rPr>
              <a:t>תחקור בשפה חופשית</a:t>
            </a:r>
          </a:p>
        </p:txBody>
      </p:sp>
      <p:sp>
        <p:nvSpPr>
          <p:cNvPr id="33" name="Oval 32"/>
          <p:cNvSpPr/>
          <p:nvPr/>
        </p:nvSpPr>
        <p:spPr>
          <a:xfrm>
            <a:off x="6412230" y="4398264"/>
            <a:ext cx="182880" cy="182880"/>
          </a:xfrm>
          <a:prstGeom prst="ellipse">
            <a:avLst/>
          </a:prstGeom>
          <a:solidFill>
            <a:srgbClr val="D2A534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31686" y="4370831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/>
            <a:r>
              <a:rPr sz="1050" b="1">
                <a:solidFill>
                  <a:srgbClr val="020140"/>
                </a:solidFill>
                <a:latin typeface="Arial"/>
                <a:cs typeface="Arial"/>
              </a:rPr>
              <a:t>ממשק UI לסיכום ידני</a:t>
            </a:r>
          </a:p>
        </p:txBody>
      </p:sp>
      <p:sp>
        <p:nvSpPr>
          <p:cNvPr id="35" name="Oval 34"/>
          <p:cNvSpPr/>
          <p:nvPr/>
        </p:nvSpPr>
        <p:spPr>
          <a:xfrm>
            <a:off x="7709763" y="2587751"/>
            <a:ext cx="182880" cy="182880"/>
          </a:xfrm>
          <a:prstGeom prst="ellipse">
            <a:avLst/>
          </a:prstGeom>
          <a:solidFill>
            <a:srgbClr val="D2A534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87187" y="2478023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050" b="1">
                <a:solidFill>
                  <a:srgbClr val="020140"/>
                </a:solidFill>
                <a:latin typeface="Arial"/>
                <a:cs typeface="Arial"/>
              </a:rPr>
              <a:t>הרחבה למוצרים נוספים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42232" y="2121408"/>
            <a:ext cx="420624" cy="274320"/>
          </a:xfrm>
          <a:prstGeom prst="roundRect">
            <a:avLst>
              <a:gd name="adj" fmla="val 18000"/>
            </a:avLst>
          </a:prstGeom>
          <a:solidFill>
            <a:srgbClr val="F3F6FB"/>
          </a:solidFill>
          <a:ln w="9525">
            <a:solidFill>
              <a:srgbClr val="E2E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42232" y="2139696"/>
            <a:ext cx="4206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100" b="1">
                <a:solidFill>
                  <a:srgbClr val="3D65E3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212140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250" b="1">
                <a:solidFill>
                  <a:srgbClr val="212058"/>
                </a:solidFill>
                <a:latin typeface="Arial"/>
                <a:cs typeface="Arial"/>
              </a:rPr>
              <a:t>בינה</a:t>
            </a:r>
          </a:p>
        </p:txBody>
      </p:sp>
      <p:sp>
        <p:nvSpPr>
          <p:cNvPr id="40" name="Diamond 39"/>
          <p:cNvSpPr/>
          <p:nvPr/>
        </p:nvSpPr>
        <p:spPr>
          <a:xfrm>
            <a:off x="4608576" y="2532888"/>
            <a:ext cx="91440" cy="91440"/>
          </a:xfrm>
          <a:prstGeom prst="diamond">
            <a:avLst/>
          </a:prstGeom>
          <a:solidFill>
            <a:srgbClr val="3D6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2487168"/>
            <a:ext cx="36210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020140"/>
                </a:solidFill>
                <a:latin typeface="Arial"/>
                <a:cs typeface="Arial"/>
              </a:rPr>
              <a:t>א. ממשק UI לסיכום ידני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2715768"/>
            <a:ext cx="362102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6000"/>
              </a:lnSpc>
            </a:pPr>
            <a:r>
              <a:rPr sz="950" b="0">
                <a:solidFill>
                  <a:srgbClr val="5B658A"/>
                </a:solidFill>
                <a:latin typeface="Arial"/>
                <a:cs typeface="Arial"/>
              </a:rPr>
              <a:t>אפשרות למשתמש לבצע סיכום ידנית, למקרים שאינם עולים אוטומטית.</a:t>
            </a:r>
          </a:p>
        </p:txBody>
      </p:sp>
      <p:sp>
        <p:nvSpPr>
          <p:cNvPr id="43" name="Diamond 42"/>
          <p:cNvSpPr/>
          <p:nvPr/>
        </p:nvSpPr>
        <p:spPr>
          <a:xfrm>
            <a:off x="4608576" y="3136392"/>
            <a:ext cx="91440" cy="91440"/>
          </a:xfrm>
          <a:prstGeom prst="diamond">
            <a:avLst/>
          </a:prstGeom>
          <a:solidFill>
            <a:srgbClr val="3D6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3090672"/>
            <a:ext cx="36210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020140"/>
                </a:solidFill>
                <a:latin typeface="Arial"/>
                <a:cs typeface="Arial"/>
              </a:rPr>
              <a:t>ב. תחקור מסמכים בשפה חופשית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3319272"/>
            <a:ext cx="362102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6000"/>
              </a:lnSpc>
            </a:pPr>
            <a:r>
              <a:rPr sz="950" b="0">
                <a:solidFill>
                  <a:srgbClr val="5B658A"/>
                </a:solidFill>
                <a:latin typeface="Arial"/>
                <a:cs typeface="Arial"/>
              </a:rPr>
              <a:t>שאילתות טבעיות על תיק התביעה — המשתמש שואל, המערכת מאתרת.</a:t>
            </a:r>
          </a:p>
        </p:txBody>
      </p:sp>
      <p:sp>
        <p:nvSpPr>
          <p:cNvPr id="46" name="Diamond 45"/>
          <p:cNvSpPr/>
          <p:nvPr/>
        </p:nvSpPr>
        <p:spPr>
          <a:xfrm>
            <a:off x="4608576" y="3739896"/>
            <a:ext cx="91440" cy="91440"/>
          </a:xfrm>
          <a:prstGeom prst="diamond">
            <a:avLst/>
          </a:prstGeom>
          <a:solidFill>
            <a:srgbClr val="3D6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" y="3694176"/>
            <a:ext cx="36210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020140"/>
                </a:solidFill>
                <a:latin typeface="Arial"/>
                <a:cs typeface="Arial"/>
              </a:rPr>
              <a:t>ג. ניווט ישיר מהסיכום למסמך המקור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3922776"/>
            <a:ext cx="362102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6000"/>
              </a:lnSpc>
            </a:pPr>
            <a:r>
              <a:rPr sz="950" b="0">
                <a:solidFill>
                  <a:srgbClr val="5B658A"/>
                </a:solidFill>
                <a:latin typeface="Arial"/>
                <a:cs typeface="Arial"/>
              </a:rPr>
              <a:t>קישורי עומק מהסיכום ישירות לקטע הרלוונטי בדוקומנט המקורי.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142232" y="4297680"/>
            <a:ext cx="420624" cy="274320"/>
          </a:xfrm>
          <a:prstGeom prst="roundRect">
            <a:avLst>
              <a:gd name="adj" fmla="val 18000"/>
            </a:avLst>
          </a:prstGeom>
          <a:solidFill>
            <a:srgbClr val="F3F6FB"/>
          </a:solidFill>
          <a:ln w="9525">
            <a:solidFill>
              <a:srgbClr val="E2E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42232" y="4315968"/>
            <a:ext cx="4206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100" b="1">
                <a:solidFill>
                  <a:srgbClr val="3D65E3"/>
                </a:solidFill>
                <a:latin typeface="Arial"/>
                <a:cs typeface="Arial"/>
              </a:rPr>
              <a:t>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" y="429768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250" b="1">
                <a:solidFill>
                  <a:srgbClr val="212058"/>
                </a:solidFill>
                <a:latin typeface="Arial"/>
                <a:cs typeface="Arial"/>
              </a:rPr>
              <a:t>אינטגרציה</a:t>
            </a:r>
          </a:p>
        </p:txBody>
      </p:sp>
      <p:sp>
        <p:nvSpPr>
          <p:cNvPr id="52" name="Diamond 51"/>
          <p:cNvSpPr/>
          <p:nvPr/>
        </p:nvSpPr>
        <p:spPr>
          <a:xfrm>
            <a:off x="4608576" y="4709160"/>
            <a:ext cx="91440" cy="91440"/>
          </a:xfrm>
          <a:prstGeom prst="diamond">
            <a:avLst/>
          </a:prstGeom>
          <a:solidFill>
            <a:srgbClr val="3D6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4663440"/>
            <a:ext cx="36210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020140"/>
                </a:solidFill>
                <a:latin typeface="Arial"/>
                <a:cs typeface="Arial"/>
              </a:rPr>
              <a:t>אינטגרציה למערכות ליבה — חיים 2000, 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" y="4892040"/>
            <a:ext cx="362102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6000"/>
              </a:lnSpc>
            </a:pPr>
            <a:r>
              <a:rPr sz="950" b="0">
                <a:solidFill>
                  <a:srgbClr val="5B658A"/>
                </a:solidFill>
                <a:latin typeface="Arial"/>
                <a:cs typeface="Arial"/>
              </a:rPr>
              <a:t>זיהוי וסיווג מידע על הלקוח, הפוליסה והתביעה ישירות ממערכות הליבה.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142232" y="5266944"/>
            <a:ext cx="420624" cy="274320"/>
          </a:xfrm>
          <a:prstGeom prst="roundRect">
            <a:avLst>
              <a:gd name="adj" fmla="val 18000"/>
            </a:avLst>
          </a:prstGeom>
          <a:solidFill>
            <a:srgbClr val="F3F6FB"/>
          </a:solidFill>
          <a:ln w="9525">
            <a:solidFill>
              <a:srgbClr val="E2E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42232" y="5285232"/>
            <a:ext cx="4206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100" b="1">
                <a:solidFill>
                  <a:srgbClr val="3D65E3"/>
                </a:solidFill>
                <a:latin typeface="Arial"/>
                <a:cs typeface="Arial"/>
              </a:rPr>
              <a:t>03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" y="526694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250" b="1">
                <a:solidFill>
                  <a:srgbClr val="212058"/>
                </a:solidFill>
                <a:latin typeface="Arial"/>
                <a:cs typeface="Arial"/>
              </a:rPr>
              <a:t>הרחבה</a:t>
            </a:r>
          </a:p>
        </p:txBody>
      </p:sp>
      <p:sp>
        <p:nvSpPr>
          <p:cNvPr id="58" name="Diamond 57"/>
          <p:cNvSpPr/>
          <p:nvPr/>
        </p:nvSpPr>
        <p:spPr>
          <a:xfrm>
            <a:off x="4608576" y="5678424"/>
            <a:ext cx="91440" cy="91440"/>
          </a:xfrm>
          <a:prstGeom prst="diamond">
            <a:avLst/>
          </a:prstGeom>
          <a:solidFill>
            <a:srgbClr val="3D6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8680" y="5632704"/>
            <a:ext cx="36210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020140"/>
                </a:solidFill>
                <a:latin typeface="Arial"/>
                <a:cs typeface="Arial"/>
              </a:rPr>
              <a:t>הרחבה למוצרים נוספים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" y="5861304"/>
            <a:ext cx="362102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6000"/>
              </a:lnSpc>
            </a:pPr>
            <a:r>
              <a:rPr sz="950" b="0">
                <a:solidFill>
                  <a:srgbClr val="5B658A"/>
                </a:solidFill>
                <a:latin typeface="Arial"/>
                <a:cs typeface="Arial"/>
              </a:rPr>
              <a:t>פנסיית נכות, ניתוחים — לאחר ייצוב שלב א׳ + ב׳.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